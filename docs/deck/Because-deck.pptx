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16x9"/>
  <p:notesSz cx="6858000" cy="9144000"/>
  <p:embeddedFontLst>
    <p:embeddedFont>
      <p:font typeface="Montserrat Bold" charset="1"/>
      <p:regular r:id="rId23"/>
    </p:embeddedFont>
    <p:embeddedFont>
      <p:font typeface="Space Grotesk Bold" charset="1"/>
      <p:regular r:id="rId24"/>
    </p:embeddedFont>
    <p:embeddedFont>
      <p:font typeface="Space Grotesk" charset="1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GenAI Works Open Agent Hackathon 2026. Live demo: https://because-agent.vercel.app. Code: https://github.com/OlsOls4/because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problem: answering 'why did X change?' properly means pulling several sources, aligning periods, testing competing explanations and writing down what does not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users: anyone who has to defend a 'because' to a sceptical reader.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 of https://because-agent.vercel.app, Intel 2024 gross margin: 40.0% -&gt; 32.7%, drivers restructuring/impairment, depreciation, lower revenue. Confidence High 0.74.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LLM is optional. Answers are computed from data first; an LLM may only rewrite findings and is rejected unless every sentence cites a finding and every number appears in the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Scout -&gt; Analyst -&gt; DataHarness (ZetarisBackend over JDBC / UI proxy, DuckDB in SAMPLE_MODE) -&gt; SEC EDGAR XBRL, ONS, FRED. H-MEM recall and write. Optional NVIDIA NIM narrative, validated.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Unique: FRED without an API key federated as FILESTORE CSV; REST tables CACHE TABLE'd after registration; companies registered lazily on first question; views reused never dropped. Workflow: .github/workflows/zetaris-e2e.yml.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Unique: memory provenance makes 'why do you believe this?' answerable across sessions. Prompt injection is refused by Scout before any tool runs (examples/outputs/guard-blocked.json).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Sessions: Zetaris backend hardening; FRED as FILESTORE + 'because zetaris sql'; web UI polish. docs/cursor-sessions/. NVIDIA NIM is the first-choice LLM provider for the validated narrative (meta/llama-3.3-70b-instruct).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conformance/meterless/hmem-scorecard.txt, conformance/meterless/scout-eval-report.md, pytest -q (58 passed), examples/outputs/. The v1 Scout corpus is a smoke set, treat as conformance not a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Dependencies: duckdb, httpx, fastapi, uvicorn, python-dotenv; optional JayDeBeApi + JPype1 for Zetaris JDBC.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README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MIT licence. Built during the build window from 22 Oct 2026; pre-existing components declared in README and docs/SPONSORS.md.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2351"/>
            <a:ext cx="5437632" cy="17569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4A6079"/>
                </a:solidFill>
                <a:latin typeface="Montserrat Bold"/>
                <a:cs typeface="Montserrat Bold"/>
                <a:sym typeface="Montserrat Bold"/>
              </a:rPr>
              <a:t>BECAUSE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5958" y="2542398"/>
            <a:ext cx="7177674" cy="176750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88496"/>
              </a:lnSpc>
            </a:pPr>
            <a:r>
              <a:rPr sz="10800" b="0">
                <a:solidFill>
                  <a:srgbClr val="10304F"/>
                </a:solidFill>
                <a:latin typeface="Space Grotesk Bold"/>
                <a:cs typeface="Space Grotesk Bold"/>
                <a:sym typeface="Space Grotesk Bold"/>
              </a:rPr>
              <a:t>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55958" y="4239148"/>
            <a:ext cx="7177674" cy="8030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2100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The analyst agent that shows its work. Ask why something happened and audit every claim.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541264"/>
            <a:ext cx="3242828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10304F"/>
                </a:solidFill>
                <a:latin typeface="Montserrat Bold"/>
                <a:cs typeface="Montserrat Bold"/>
                <a:sym typeface="Montserrat Bold"/>
              </a:rPr>
              <a:t>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806440"/>
            <a:ext cx="3242828" cy="33473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Explain 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84076" y="5541264"/>
            <a:ext cx="3242828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10304F"/>
                </a:solidFill>
                <a:latin typeface="Montserrat Bold"/>
                <a:cs typeface="Montserrat Bold"/>
                <a:sym typeface="Montserrat Bold"/>
              </a:rP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84076" y="5806440"/>
            <a:ext cx="3242828" cy="33473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OlsOls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32960" y="201168"/>
            <a:ext cx="7071360" cy="16459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972544" y="201168"/>
            <a:ext cx="16459" cy="3840480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58368" y="938539"/>
            <a:ext cx="1005840" cy="25603"/>
          </a:xfrm>
          <a:prstGeom prst="rect">
            <a:avLst/>
          </a:prstGeom>
          <a:solidFill>
            <a:srgbClr val="6B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000000"/>
                </a:solidFill>
                <a:latin typeface="Montserrat Bold"/>
                <a:cs typeface="Montserrat Bold"/>
                <a:sym typeface="Montserrat Bold"/>
              </a:rPr>
              <a:t>02/15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49435"/>
            <a:ext cx="8917716" cy="274945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5576" b="0">
                <a:solidFill>
                  <a:srgbClr val="10304F"/>
                </a:solidFill>
                <a:latin typeface="Space Grotesk Bold"/>
                <a:cs typeface="Space Grotesk Bold"/>
                <a:sym typeface="Space Grotesk Bold"/>
              </a:rPr>
              <a:t>Why questions get fluent answers that nobody can check.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898984"/>
            <a:ext cx="5981395" cy="194892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2100" b="0">
                <a:solidFill>
                  <a:srgbClr val="4A6079"/>
                </a:solidFill>
                <a:latin typeface="Space Grotesk"/>
                <a:cs typeface="Space Grotesk"/>
                <a:sym typeface="Space Grotesk"/>
              </a:rPr>
              <a:t>LLMs explain fluently but unverifiably. Dashboards show what changed, never why. Doing it properly takes hours of pulling and lining up 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32960" y="201168"/>
            <a:ext cx="7071360" cy="16459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972544" y="201168"/>
            <a:ext cx="16459" cy="3840480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000000"/>
                </a:solidFill>
                <a:latin typeface="Montserrat Bold"/>
                <a:cs typeface="Montserrat Bold"/>
                <a:sym typeface="Montserrat Bold"/>
              </a:rPr>
              <a:t>03/15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69716"/>
            <a:ext cx="7395180" cy="960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5800" b="0">
                <a:solidFill>
                  <a:srgbClr val="10304F"/>
                </a:solidFill>
                <a:latin typeface="Space Grotesk Bold"/>
                <a:cs typeface="Space Grotesk Bold"/>
                <a:sym typeface="Space Grotesk Bold"/>
              </a:rPr>
              <a:t>Who it is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959220"/>
            <a:ext cx="3396488" cy="3243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91750"/>
              </a:lnSpc>
            </a:pPr>
            <a:r>
              <a:rPr sz="2000" b="0">
                <a:solidFill>
                  <a:srgbClr val="10304F"/>
                </a:solidFill>
                <a:latin typeface="Montserrat Bold"/>
                <a:cs typeface="Montserrat Bold"/>
                <a:sym typeface="Montserrat Bold"/>
              </a:rPr>
              <a:t>Analysts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335140"/>
            <a:ext cx="3396488" cy="1656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6471"/>
              </a:lnSpc>
            </a:pPr>
            <a:r>
              <a:rPr sz="1700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Explain a margin or revenue move from filings in seconds, with the bridge in points of revenue.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3456" y="3959220"/>
            <a:ext cx="3396488" cy="3243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91750"/>
              </a:lnSpc>
            </a:pPr>
            <a:r>
              <a:rPr sz="2000" b="0">
                <a:solidFill>
                  <a:srgbClr val="10304F"/>
                </a:solidFill>
                <a:latin typeface="Montserrat Bold"/>
                <a:cs typeface="Montserrat Bold"/>
                <a:sym typeface="Montserrat Bold"/>
              </a:rPr>
              <a:t>Journalists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3456" y="4335140"/>
            <a:ext cx="3396488" cy="13651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6471"/>
              </a:lnSpc>
            </a:pPr>
            <a:r>
              <a:rPr sz="1700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Check a claimed cause of inflation or unemployment against official series before publishing.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8544" y="3959220"/>
            <a:ext cx="3396488" cy="3243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91750"/>
              </a:lnSpc>
            </a:pPr>
            <a:r>
              <a:rPr sz="2000" b="0">
                <a:solidFill>
                  <a:srgbClr val="10304F"/>
                </a:solidFill>
                <a:latin typeface="Montserrat Bold"/>
                <a:cs typeface="Montserrat Bold"/>
                <a:sym typeface="Montserrat Bold"/>
              </a:rPr>
              <a:t>Students and investors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8544" y="4335140"/>
            <a:ext cx="3396488" cy="13252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6471"/>
              </a:lnSpc>
            </a:pPr>
            <a:r>
              <a:rPr sz="1700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Learn to reason from evidence: see the hypotheses that failed, not just the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32960" y="201168"/>
            <a:ext cx="7071360" cy="16459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972544" y="201168"/>
            <a:ext cx="16459" cy="3840480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deckimg-ejhrxaq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505" y="823015"/>
            <a:ext cx="5220127" cy="52119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000000"/>
                </a:solidFill>
                <a:latin typeface="Montserrat Bold"/>
                <a:cs typeface="Montserrat Bold"/>
                <a:sym typeface="Montserrat Bold"/>
              </a:rPr>
              <a:t>04/15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4785116" cy="1571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4755" b="0">
                <a:solidFill>
                  <a:srgbClr val="10304F"/>
                </a:solidFill>
                <a:latin typeface="Space Grotesk Bold"/>
                <a:cs typeface="Space Grotesk Bold"/>
                <a:sym typeface="Space Grotesk Bold"/>
              </a:rPr>
              <a:t>Ask why then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92575"/>
            <a:ext cx="4785116" cy="13252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4A6079"/>
                </a:solidFill>
                <a:latin typeface="Space Grotesk"/>
                <a:cs typeface="Space Grotesk"/>
                <a:sym typeface="Space Grotesk"/>
              </a:rPr>
              <a:t>Intel's 2024 gross margin from SEC filings. Every claim cites findings; every finding cites a query and a source row.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32960" y="201168"/>
            <a:ext cx="7071360" cy="16459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972544" y="201168"/>
            <a:ext cx="16459" cy="3840480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58368" y="3142151"/>
            <a:ext cx="1043970" cy="18288"/>
          </a:xfrm>
          <a:prstGeom prst="rect">
            <a:avLst/>
          </a:prstGeom>
          <a:solidFill>
            <a:srgbClr val="6B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454908" y="3142151"/>
            <a:ext cx="1043970" cy="18288"/>
          </a:xfrm>
          <a:prstGeom prst="rect">
            <a:avLst/>
          </a:prstGeom>
          <a:solidFill>
            <a:srgbClr val="6B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251448" y="3142151"/>
            <a:ext cx="1043970" cy="18288"/>
          </a:xfrm>
          <a:prstGeom prst="rect">
            <a:avLst/>
          </a:prstGeom>
          <a:solidFill>
            <a:srgbClr val="6B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047988" y="3142151"/>
            <a:ext cx="1043970" cy="18288"/>
          </a:xfrm>
          <a:prstGeom prst="rect">
            <a:avLst/>
          </a:prstGeom>
          <a:solidFill>
            <a:srgbClr val="6B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000000"/>
                </a:solidFill>
                <a:latin typeface="Montserrat Bold"/>
                <a:cs typeface="Montserrat Bold"/>
                <a:sym typeface="Montserrat Bold"/>
              </a:rPr>
              <a:t>05/15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5772"/>
            <a:ext cx="7830190" cy="960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5800" b="0">
                <a:solidFill>
                  <a:srgbClr val="10304F"/>
                </a:solidFill>
                <a:latin typeface="Space Grotesk Bold"/>
                <a:cs typeface="Space Grotesk Bold"/>
                <a:sym typeface="Space Grotesk Bold"/>
              </a:rPr>
              <a:t>One investigation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905734"/>
            <a:ext cx="2485644" cy="17569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6B2A55"/>
                </a:solidFill>
                <a:latin typeface="Montserrat Bold"/>
                <a:cs typeface="Montserrat Bold"/>
                <a:sym typeface="Montserrat Bold"/>
              </a:rPr>
              <a:t>SCOUT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88455"/>
            <a:ext cx="2485644" cy="198790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Classifies the question, runs the guard and issues an HMAC-signed contract for the allowed tools.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4908" y="2905734"/>
            <a:ext cx="2485644" cy="17569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6B2A55"/>
                </a:solidFill>
                <a:latin typeface="Montserrat Bold"/>
                <a:cs typeface="Montserrat Bold"/>
                <a:sym typeface="Montserrat Bold"/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4908" y="3288455"/>
            <a:ext cx="2485644" cy="13651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H-MEM returns what the agent already believes and which query it came from.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1448" y="2905734"/>
            <a:ext cx="2485644" cy="17569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6B2A55"/>
                </a:solidFill>
                <a:latin typeface="Montserrat Bold"/>
                <a:cs typeface="Montserrat Bold"/>
                <a:sym typeface="Montserrat Bold"/>
              </a:rPr>
              <a:t>QUERY AND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1448" y="3288455"/>
            <a:ext cx="2485644" cy="170647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Zetaris SQL pulls target and drivers. Each hypothesis gets a numeric rule and a verdict.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7988" y="2905734"/>
            <a:ext cx="2485644" cy="17569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6B2A55"/>
                </a:solidFill>
                <a:latin typeface="Montserrat Bold"/>
                <a:cs typeface="Montserrat Bold"/>
                <a:sym typeface="Montserrat Bold"/>
              </a:rPr>
              <a:t>ANSWER AND REMEMBER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7988" y="3288455"/>
            <a:ext cx="2485644" cy="198790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Cited claims, counter-evidence and confidence; every finding is written back with provenance.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32960" y="201168"/>
            <a:ext cx="7071360" cy="16459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972544" y="201168"/>
            <a:ext cx="16459" cy="3840480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deckimg-w0hmc9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505" y="823015"/>
            <a:ext cx="5220127" cy="52119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000000"/>
                </a:solidFill>
                <a:latin typeface="Montserrat Bold"/>
                <a:cs typeface="Montserrat Bold"/>
                <a:sym typeface="Montserrat Bold"/>
              </a:rPr>
              <a:t>06/15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4785116" cy="18641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5800" b="0">
                <a:solidFill>
                  <a:srgbClr val="10304F"/>
                </a:solidFill>
                <a:latin typeface="Space Grotesk Bold"/>
                <a:cs typeface="Space Grotesk Bold"/>
                <a:sym typeface="Space Grotesk Bold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49591"/>
            <a:ext cx="4785116" cy="13252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4A6079"/>
                </a:solidFill>
                <a:latin typeface="Space Grotesk"/>
                <a:cs typeface="Space Grotesk"/>
                <a:sym typeface="Space Grotesk"/>
              </a:rPr>
              <a:t>Meterless decides and remembers. Zetaris federates the data. The same portable SQL runs on a DuckDB fallback.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32960" y="201168"/>
            <a:ext cx="7071360" cy="16459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972544" y="201168"/>
            <a:ext cx="16459" cy="3840480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000000"/>
                </a:solidFill>
                <a:latin typeface="Montserrat Bold"/>
                <a:cs typeface="Montserrat Bold"/>
                <a:sym typeface="Montserrat Bold"/>
              </a:rPr>
              <a:t>07/15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57237"/>
            <a:ext cx="8700211" cy="12438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6B2A55"/>
                </a:solidFill>
                <a:latin typeface="Space Grotesk Bold"/>
                <a:cs typeface="Space Grotesk Bold"/>
                <a:sym typeface="Space Grotesk Bol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258020"/>
            <a:ext cx="8700211" cy="9164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5576" b="0">
                <a:solidFill>
                  <a:srgbClr val="10304F"/>
                </a:solidFill>
                <a:latin typeface="Space Grotesk Bold"/>
                <a:cs typeface="Space Grotesk Bold"/>
                <a:sym typeface="Space Grotesk Bold"/>
              </a:rPr>
              <a:t>Sponsor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317987"/>
            <a:ext cx="5981395" cy="8030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2100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Zetaris federates. Meterless decides and remembers.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32960" y="201168"/>
            <a:ext cx="7071360" cy="16459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972544" y="201168"/>
            <a:ext cx="16459" cy="3840480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145280" y="3803904"/>
            <a:ext cx="7168896" cy="9144"/>
          </a:xfrm>
          <a:prstGeom prst="rect">
            <a:avLst/>
          </a:prstGeom>
          <a:solidFill>
            <a:srgbClr val="4A6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145280" y="4602480"/>
            <a:ext cx="7168896" cy="9144"/>
          </a:xfrm>
          <a:prstGeom prst="rect">
            <a:avLst/>
          </a:prstGeom>
          <a:solidFill>
            <a:srgbClr val="4A6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145280" y="5401056"/>
            <a:ext cx="7168896" cy="9144"/>
          </a:xfrm>
          <a:prstGeom prst="rect">
            <a:avLst/>
          </a:prstGeom>
          <a:solidFill>
            <a:srgbClr val="4A6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deckimg-8nlfkq8s.jpg"/>
          <p:cNvPicPr>
            <a:picLocks noChangeAspect="1"/>
          </p:cNvPicPr>
          <p:nvPr/>
        </p:nvPicPr>
        <p:blipFill>
          <a:blip r:embed="rId2"/>
          <a:srcRect t="36" b="36"/>
          <a:stretch>
            <a:fillRect/>
          </a:stretch>
        </p:blipFill>
        <p:spPr>
          <a:xfrm>
            <a:off x="0" y="0"/>
            <a:ext cx="1219200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FFFFFF"/>
                </a:solidFill>
                <a:latin typeface="Montserrat Bold"/>
                <a:cs typeface="Montserrat Bold"/>
                <a:sym typeface="Montserrat Bold"/>
              </a:rPr>
              <a:t>08/15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803904"/>
            <a:ext cx="3413760" cy="8663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394" b="0">
                <a:solidFill>
                  <a:srgbClr val="4A6079"/>
                </a:solidFill>
                <a:latin typeface="Space Grotesk"/>
                <a:cs typeface="Space Grotesk"/>
                <a:sym typeface="Space Grotesk"/>
              </a:rPr>
              <a:t>Three public source families federated by Lightning, queried with one portable SQL dialect.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765040"/>
            <a:ext cx="3413760" cy="1588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3248" b="0">
                <a:solidFill>
                  <a:srgbClr val="10304F"/>
                </a:solidFill>
                <a:latin typeface="Space Grotesk Bold"/>
                <a:cs typeface="Space Grotesk Bold"/>
                <a:sym typeface="Space Grotesk Bold"/>
              </a:rPr>
              <a:t>Zetaris is the data harness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5280" y="3931920"/>
            <a:ext cx="7168896" cy="32943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2000" b="0">
                <a:solidFill>
                  <a:srgbClr val="10304F"/>
                </a:solidFill>
                <a:latin typeface="Montserrat Bold"/>
                <a:cs typeface="Montserrat Bold"/>
                <a:sym typeface="Montserrat Bold"/>
              </a:rPr>
              <a:t>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5280" y="4275761"/>
            <a:ext cx="7168896" cy="2887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394" b="0">
                <a:solidFill>
                  <a:srgbClr val="4A6079"/>
                </a:solidFill>
                <a:latin typeface="Space Grotesk"/>
                <a:cs typeface="Space Grotesk"/>
                <a:sym typeface="Space Grotesk"/>
              </a:rPr>
              <a:t>SEC, ONS as REST tables; FRED as FILESTORE 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5280" y="4730496"/>
            <a:ext cx="7168896" cy="32943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2000" b="0">
                <a:solidFill>
                  <a:srgbClr val="10304F"/>
                </a:solidFill>
                <a:latin typeface="Montserrat Bold"/>
                <a:cs typeface="Montserrat Bold"/>
                <a:sym typeface="Montserrat Bold"/>
              </a:rPr>
              <a:t>Channels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5280" y="5074337"/>
            <a:ext cx="7168896" cy="2887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394" b="0">
                <a:solidFill>
                  <a:srgbClr val="4A6079"/>
                </a:solidFill>
                <a:latin typeface="Space Grotesk"/>
                <a:cs typeface="Space Grotesk"/>
                <a:sym typeface="Space Grotesk"/>
              </a:rPr>
              <a:t>JDBC, UI SQL proxy or 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5280" y="5529072"/>
            <a:ext cx="7168896" cy="32943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2000" b="0">
                <a:solidFill>
                  <a:srgbClr val="10304F"/>
                </a:solidFill>
                <a:latin typeface="Montserrat Bold"/>
                <a:cs typeface="Montserrat Bold"/>
                <a:sym typeface="Montserrat Bold"/>
              </a:rPr>
              <a:t>CI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5280" y="5872913"/>
            <a:ext cx="7168896" cy="2887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394" b="0">
                <a:solidFill>
                  <a:srgbClr val="4A6079"/>
                </a:solidFill>
                <a:latin typeface="Space Grotesk"/>
                <a:cs typeface="Space Grotesk"/>
                <a:sym typeface="Space Grotesk"/>
              </a:rPr>
              <a:t>Real Lightning bundle on GitHub 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32960" y="201168"/>
            <a:ext cx="7071360" cy="16459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972544" y="201168"/>
            <a:ext cx="16459" cy="3840480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deckimg-4tl18561.jpg"/>
          <p:cNvPicPr>
            <a:picLocks noChangeAspect="1"/>
          </p:cNvPicPr>
          <p:nvPr/>
        </p:nvPicPr>
        <p:blipFill>
          <a:blip r:embed="rId2"/>
          <a:srcRect t="12" b="12"/>
          <a:stretch>
            <a:fillRect/>
          </a:stretch>
        </p:blipFill>
        <p:spPr>
          <a:xfrm>
            <a:off x="3657600" y="0"/>
            <a:ext cx="48768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000000"/>
                </a:solidFill>
                <a:latin typeface="Montserrat Bold"/>
                <a:cs typeface="Montserrat Bold"/>
                <a:sym typeface="Montserrat Bold"/>
              </a:rPr>
              <a:t>09/15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411480" cy="351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6B2A55"/>
                </a:solidFill>
                <a:latin typeface="Montserrat Bold"/>
                <a:cs typeface="Montserrat Bold"/>
                <a:sym typeface="Montserrat Bold"/>
              </a:rPr>
              <a:t>H-MEM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822960"/>
            <a:ext cx="2103120" cy="168207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394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Every finding is a memory with SQL, rows and source URL. Conflict scan flags restated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60320"/>
            <a:ext cx="411480" cy="702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6B2A55"/>
                </a:solidFill>
                <a:latin typeface="Montserrat Bold"/>
                <a:cs typeface="Montserrat Bold"/>
                <a:sym typeface="Montserrat Bold"/>
              </a:rPr>
              <a:t>SCOUT 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560320"/>
            <a:ext cx="2103120" cy="14439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394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Intent registry, five-layer guard, HMAC-SHA256 contracts with TTL and scope checks.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297680"/>
            <a:ext cx="411480" cy="5270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6B2A55"/>
                </a:solidFill>
                <a:latin typeface="Montserrat Bold"/>
                <a:cs typeface="Montserrat Bold"/>
                <a:sym typeface="Montserrat Bold"/>
              </a:rPr>
              <a:t>ASK IT 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4297680"/>
            <a:ext cx="2103120" cy="140172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394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Memory recall answers what it believes and audits the trail behind each belief.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8448" y="2209922"/>
            <a:ext cx="2615184" cy="137472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2668" b="0">
                <a:solidFill>
                  <a:srgbClr val="10304F"/>
                </a:solidFill>
                <a:latin typeface="Space Grotesk Bold"/>
                <a:cs typeface="Space Grotesk Bold"/>
                <a:sym typeface="Space Grotesk Bold"/>
              </a:rPr>
              <a:t>Meterless remembers 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8448" y="3616993"/>
            <a:ext cx="2615184" cy="1656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4A6079"/>
                </a:solidFill>
                <a:latin typeface="Space Grotesk"/>
                <a:cs typeface="Space Grotesk"/>
                <a:sym typeface="Space Grotesk"/>
              </a:rPr>
              <a:t>H-MEM stores beliefs with the query that produced them. Scout gates every tool call.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32960" y="201168"/>
            <a:ext cx="7071360" cy="16459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972544" y="201168"/>
            <a:ext cx="16459" cy="3840480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145280" y="3803904"/>
            <a:ext cx="7168896" cy="9144"/>
          </a:xfrm>
          <a:prstGeom prst="rect">
            <a:avLst/>
          </a:prstGeom>
          <a:solidFill>
            <a:srgbClr val="4A6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145280" y="4602480"/>
            <a:ext cx="7168896" cy="9144"/>
          </a:xfrm>
          <a:prstGeom prst="rect">
            <a:avLst/>
          </a:prstGeom>
          <a:solidFill>
            <a:srgbClr val="4A6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145280" y="5401056"/>
            <a:ext cx="7168896" cy="9144"/>
          </a:xfrm>
          <a:prstGeom prst="rect">
            <a:avLst/>
          </a:prstGeom>
          <a:solidFill>
            <a:srgbClr val="4A6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deckimg-i9_vp8ho.jpg"/>
          <p:cNvPicPr>
            <a:picLocks noChangeAspect="1"/>
          </p:cNvPicPr>
          <p:nvPr/>
        </p:nvPicPr>
        <p:blipFill>
          <a:blip r:embed="rId2"/>
          <a:srcRect t="36" b="36"/>
          <a:stretch>
            <a:fillRect/>
          </a:stretch>
        </p:blipFill>
        <p:spPr>
          <a:xfrm>
            <a:off x="0" y="0"/>
            <a:ext cx="1219200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FFFFFF"/>
                </a:solidFill>
                <a:latin typeface="Montserrat Bold"/>
                <a:cs typeface="Montserrat Bold"/>
                <a:sym typeface="Montserrat Bold"/>
              </a:rPr>
              <a:t>10/15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803904"/>
            <a:ext cx="3413760" cy="8663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394" b="0">
                <a:solidFill>
                  <a:srgbClr val="4A6079"/>
                </a:solidFill>
                <a:latin typeface="Space Grotesk"/>
                <a:cs typeface="Space Grotesk"/>
                <a:sym typeface="Space Grotesk"/>
              </a:rPr>
              <a:t>Three headless Cursor Agent CLI sessions did real work, logged in the repo.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765040"/>
            <a:ext cx="3413760" cy="1571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4755" b="0">
                <a:solidFill>
                  <a:srgbClr val="10304F"/>
                </a:solidFill>
                <a:latin typeface="Space Grotesk Bold"/>
                <a:cs typeface="Space Grotesk Bold"/>
                <a:sym typeface="Space Grotesk Bold"/>
              </a:rPr>
              <a:t>Built in Cursor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5280" y="3931920"/>
            <a:ext cx="7168896" cy="32943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2000" b="0">
                <a:solidFill>
                  <a:srgbClr val="10304F"/>
                </a:solidFill>
                <a:latin typeface="Montserrat Bold"/>
                <a:cs typeface="Montserrat Bold"/>
                <a:sym typeface="Montserrat Bold"/>
              </a:rPr>
              <a:t>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5280" y="4275761"/>
            <a:ext cx="7168896" cy="2887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394" b="0">
                <a:solidFill>
                  <a:srgbClr val="4A6079"/>
                </a:solidFill>
                <a:latin typeface="Space Grotesk"/>
                <a:cs typeface="Space Grotesk"/>
                <a:sym typeface="Space Grotesk"/>
              </a:rPr>
              <a:t>AGENTS.md and .cursor/rules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5280" y="4730496"/>
            <a:ext cx="7168896" cy="32943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2000" b="0">
                <a:solidFill>
                  <a:srgbClr val="10304F"/>
                </a:solidFill>
                <a:latin typeface="Montserrat Bold"/>
                <a:cs typeface="Montserrat Bold"/>
                <a:sym typeface="Montserrat Bold"/>
              </a:rPr>
              <a:t>Sessions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5280" y="5074337"/>
            <a:ext cx="7168896" cy="2887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394" b="0">
                <a:solidFill>
                  <a:srgbClr val="4A6079"/>
                </a:solidFill>
                <a:latin typeface="Space Grotesk"/>
                <a:cs typeface="Space Grotesk"/>
                <a:sym typeface="Space Grotesk"/>
              </a:rPr>
              <a:t>Zetaris hardening, FRED FILESTORE, UI polish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5280" y="5529072"/>
            <a:ext cx="7168896" cy="32943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2000" b="0">
                <a:solidFill>
                  <a:srgbClr val="10304F"/>
                </a:solidFill>
                <a:latin typeface="Montserrat Bold"/>
                <a:cs typeface="Montserrat Bold"/>
                <a:sym typeface="Montserrat Bold"/>
              </a:rPr>
              <a:t>NVIDIA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5280" y="5872913"/>
            <a:ext cx="7168896" cy="2887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394" b="0">
                <a:solidFill>
                  <a:srgbClr val="4A6079"/>
                </a:solidFill>
                <a:latin typeface="Space Grotesk"/>
                <a:cs typeface="Space Grotesk"/>
                <a:sym typeface="Space Grotesk"/>
              </a:rPr>
              <a:t>NIM is the first-choice narrative LLM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32960" y="201168"/>
            <a:ext cx="7071360" cy="16459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972544" y="201168"/>
            <a:ext cx="16459" cy="3840480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000000"/>
                </a:solidFill>
                <a:latin typeface="Montserrat Bold"/>
                <a:cs typeface="Montserrat Bold"/>
                <a:sym typeface="Montserrat Bold"/>
              </a:rPr>
              <a:t>11/15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7208"/>
            <a:ext cx="8700211" cy="12438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6B2A55"/>
                </a:solidFill>
                <a:latin typeface="Space Grotesk Bold"/>
                <a:cs typeface="Space Grotesk Bold"/>
                <a:sym typeface="Space Grotesk Bold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347991"/>
            <a:ext cx="8700211" cy="11128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6800" b="0">
                <a:solidFill>
                  <a:srgbClr val="10304F"/>
                </a:solidFill>
                <a:latin typeface="Space Grotesk Bold"/>
                <a:cs typeface="Space Grotesk Bold"/>
                <a:sym typeface="Space Grotesk Bold"/>
              </a:rPr>
              <a:t>Proof and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580230"/>
            <a:ext cx="5981395" cy="40152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2100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Conformance, tests and the road ahead.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32960" y="201168"/>
            <a:ext cx="7071360" cy="16459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972544" y="201168"/>
            <a:ext cx="16459" cy="3840480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58368" y="2091329"/>
            <a:ext cx="782239" cy="25603"/>
          </a:xfrm>
          <a:prstGeom prst="rect">
            <a:avLst/>
          </a:prstGeom>
          <a:solidFill>
            <a:srgbClr val="6B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468624" y="2091329"/>
            <a:ext cx="782239" cy="25603"/>
          </a:xfrm>
          <a:prstGeom prst="rect">
            <a:avLst/>
          </a:prstGeom>
          <a:solidFill>
            <a:srgbClr val="6B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278880" y="2091329"/>
            <a:ext cx="782239" cy="25603"/>
          </a:xfrm>
          <a:prstGeom prst="rect">
            <a:avLst/>
          </a:prstGeom>
          <a:solidFill>
            <a:srgbClr val="6B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089136" y="2091329"/>
            <a:ext cx="782239" cy="25603"/>
          </a:xfrm>
          <a:prstGeom prst="rect">
            <a:avLst/>
          </a:prstGeom>
          <a:solidFill>
            <a:srgbClr val="6B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000000"/>
                </a:solidFill>
                <a:latin typeface="Montserrat Bold"/>
                <a:cs typeface="Montserrat Bold"/>
                <a:sym typeface="Montserrat Bold"/>
              </a:rPr>
              <a:t>12/15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883351"/>
            <a:ext cx="7830190" cy="960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5800" b="0">
                <a:solidFill>
                  <a:srgbClr val="10304F"/>
                </a:solidFill>
                <a:latin typeface="Space Grotesk Bold"/>
                <a:cs typeface="Space Grotesk Bold"/>
                <a:sym typeface="Space Grotesk Bold"/>
              </a:rPr>
              <a:t>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10785"/>
            <a:ext cx="2444496" cy="343167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200" b="0">
                <a:solidFill>
                  <a:srgbClr val="6B2A55"/>
                </a:solidFill>
                <a:latin typeface="Space Grotesk Bold"/>
                <a:cs typeface="Space Grotesk Bold"/>
                <a:sym typeface="Space Grotesk Bold"/>
              </a:rPr>
              <a:t>13/13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375886"/>
            <a:ext cx="2444496" cy="3412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4A6079"/>
                </a:solidFill>
                <a:latin typeface="Space Grotesk"/>
                <a:cs typeface="Space Grotesk"/>
                <a:sym typeface="Space Grotesk"/>
              </a:rPr>
              <a:t>H-MEM conformance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8624" y="2310785"/>
            <a:ext cx="2444496" cy="343167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200" b="0">
                <a:solidFill>
                  <a:srgbClr val="6B2A55"/>
                </a:solidFill>
                <a:latin typeface="Space Grotesk Bold"/>
                <a:cs typeface="Space Grotesk Bold"/>
                <a:sym typeface="Space Grotesk Bold"/>
              </a:rPr>
              <a:t>1.00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8624" y="5375886"/>
            <a:ext cx="2444496" cy="3412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4A6079"/>
                </a:solidFill>
                <a:latin typeface="Space Grotesk"/>
                <a:cs typeface="Space Grotesk"/>
                <a:sym typeface="Space Grotesk"/>
              </a:rPr>
              <a:t>Scout eval top-1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880" y="2310785"/>
            <a:ext cx="2444496" cy="343167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200" b="0">
                <a:solidFill>
                  <a:srgbClr val="6B2A55"/>
                </a:solidFill>
                <a:latin typeface="Space Grotesk Bold"/>
                <a:cs typeface="Space Grotesk Bold"/>
                <a:sym typeface="Space Grotesk Bold"/>
              </a:rPr>
              <a:t>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880" y="5375886"/>
            <a:ext cx="2444496" cy="3412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4A6079"/>
                </a:solidFill>
                <a:latin typeface="Space Grotesk"/>
                <a:cs typeface="Space Grotesk"/>
                <a:sym typeface="Space Grotesk"/>
              </a:rPr>
              <a:t>Offline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9136" y="2310785"/>
            <a:ext cx="2444496" cy="343167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200" b="0">
                <a:solidFill>
                  <a:srgbClr val="6B2A55"/>
                </a:solidFill>
                <a:latin typeface="Space Grotesk Bold"/>
                <a:cs typeface="Space Grotesk Bold"/>
                <a:sym typeface="Space Grotesk Bold"/>
              </a:rPr>
              <a:t>0.70-0.94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5375886"/>
            <a:ext cx="2444496" cy="6825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4A6079"/>
                </a:solidFill>
                <a:latin typeface="Space Grotesk"/>
                <a:cs typeface="Space Grotesk"/>
                <a:sym typeface="Space Grotesk"/>
              </a:rPr>
              <a:t>Confidence on 4 saved runs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32960" y="201168"/>
            <a:ext cx="7071360" cy="16459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972544" y="201168"/>
            <a:ext cx="16459" cy="3840480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58368" y="2297076"/>
            <a:ext cx="10875264" cy="13716"/>
          </a:xfrm>
          <a:prstGeom prst="rect">
            <a:avLst/>
          </a:prstGeom>
          <a:solidFill>
            <a:srgbClr val="6B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000000"/>
                </a:solidFill>
                <a:latin typeface="Montserrat Bold"/>
                <a:cs typeface="Montserrat Bold"/>
                <a:sym typeface="Montserrat Bold"/>
              </a:rPr>
              <a:t>13/15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46858"/>
            <a:ext cx="7830190" cy="960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5800" b="0">
                <a:solidFill>
                  <a:srgbClr val="10304F"/>
                </a:solidFill>
                <a:latin typeface="Space Grotesk Bold"/>
                <a:cs typeface="Space Grotesk Bold"/>
                <a:sym typeface="Space Grotesk Bold"/>
              </a:rPr>
              <a:t>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63396"/>
            <a:ext cx="5291328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4A6079"/>
                </a:solidFill>
                <a:latin typeface="Montserrat Bold"/>
                <a:cs typeface="Montserrat Bold"/>
                <a:sym typeface="Montserrat Bold"/>
              </a:rPr>
              <a:t>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2063396"/>
            <a:ext cx="5291328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4A6079"/>
                </a:solidFill>
                <a:latin typeface="Montserrat Bold"/>
                <a:cs typeface="Montserrat Bold"/>
                <a:sym typeface="Montserrat Bold"/>
              </a:rP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443380"/>
            <a:ext cx="5291328" cy="3412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2443380"/>
            <a:ext cx="5291328" cy="3412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Meterless Scout Intent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77056"/>
            <a:ext cx="5291328" cy="3412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0" y="3077056"/>
            <a:ext cx="5291328" cy="3412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Meterless H-MEM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710732"/>
            <a:ext cx="5291328" cy="3412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Data harness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0" y="3710732"/>
            <a:ext cx="5291328" cy="3412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Zetaris Lightning, DuckDB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344408"/>
            <a:ext cx="5291328" cy="3412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4344408"/>
            <a:ext cx="5291328" cy="3412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SEC EDGAR, ONS, FRED, Wikipedia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978085"/>
            <a:ext cx="5291328" cy="3412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Narrative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4978085"/>
            <a:ext cx="5291328" cy="3412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NVIDIA NIM, Groq or Gemini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611761"/>
            <a:ext cx="5291328" cy="3412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0" y="5611761"/>
            <a:ext cx="5291328" cy="3412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10304F"/>
                </a:solidFill>
                <a:latin typeface="Space Grotesk"/>
                <a:cs typeface="Space Grotesk"/>
                <a:sym typeface="Space Grotesk"/>
              </a:rPr>
              <a:t>Python, FastAPI, Vercel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32960" y="201168"/>
            <a:ext cx="7071360" cy="16459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972544" y="201168"/>
            <a:ext cx="16459" cy="3840480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58368" y="3318175"/>
            <a:ext cx="10875264" cy="12802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58368" y="3226735"/>
            <a:ext cx="182880" cy="182880"/>
          </a:xfrm>
          <a:prstGeom prst="rect">
            <a:avLst/>
          </a:prstGeom>
          <a:solidFill>
            <a:srgbClr val="6B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377184" y="3226735"/>
            <a:ext cx="182880" cy="182880"/>
          </a:xfrm>
          <a:prstGeom prst="rect">
            <a:avLst/>
          </a:prstGeom>
          <a:solidFill>
            <a:srgbClr val="6B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096000" y="3226735"/>
            <a:ext cx="182880" cy="182880"/>
          </a:xfrm>
          <a:prstGeom prst="rect">
            <a:avLst/>
          </a:prstGeom>
          <a:solidFill>
            <a:srgbClr val="6B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8814816" y="3226735"/>
            <a:ext cx="182880" cy="182880"/>
          </a:xfrm>
          <a:prstGeom prst="rect">
            <a:avLst/>
          </a:prstGeom>
          <a:solidFill>
            <a:srgbClr val="6B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000000"/>
                </a:solidFill>
                <a:latin typeface="Montserrat Bold"/>
                <a:cs typeface="Montserrat Bold"/>
                <a:sym typeface="Montserrat Bold"/>
              </a:rPr>
              <a:t>14/15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58368"/>
            <a:ext cx="7830190" cy="960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5800" b="0">
                <a:solidFill>
                  <a:srgbClr val="10304F"/>
                </a:solidFill>
                <a:latin typeface="Space Grotesk Bold"/>
                <a:cs typeface="Space Grotesk Bold"/>
                <a:sym typeface="Space Grotesk Bold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720511"/>
            <a:ext cx="2462784" cy="32943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2000" b="0">
                <a:solidFill>
                  <a:srgbClr val="10304F"/>
                </a:solidFill>
                <a:latin typeface="Montserrat Bold"/>
                <a:cs typeface="Montserrat Bold"/>
                <a:sym typeface="Montserrat Bold"/>
              </a:rPr>
              <a:t>Semantic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078143"/>
            <a:ext cx="2462784" cy="10238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4A6079"/>
                </a:solidFill>
                <a:latin typeface="Space Grotesk"/>
                <a:cs typeface="Space Grotesk"/>
                <a:sym typeface="Space Grotesk"/>
              </a:rPr>
              <a:t>Zetaris USL model joining EDGAR facts and macro series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7184" y="3720511"/>
            <a:ext cx="2462784" cy="32943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2000" b="0">
                <a:solidFill>
                  <a:srgbClr val="10304F"/>
                </a:solidFill>
                <a:latin typeface="Montserrat Bold"/>
                <a:cs typeface="Montserrat Bold"/>
                <a:sym typeface="Montserrat Bold"/>
              </a:rPr>
              <a:t>Markovian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7184" y="4078143"/>
            <a:ext cx="2462784" cy="13252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4A6079"/>
                </a:solidFill>
                <a:latin typeface="Space Grotesk"/>
                <a:cs typeface="Space Grotesk"/>
                <a:sym typeface="Space Grotesk"/>
              </a:rPr>
              <a:t>Bounded state for long, multi-company investigations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0" y="3720511"/>
            <a:ext cx="2462784" cy="32943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2000" b="0">
                <a:solidFill>
                  <a:srgbClr val="10304F"/>
                </a:solidFill>
                <a:latin typeface="Montserrat Bold"/>
                <a:cs typeface="Montserrat Bold"/>
                <a:sym typeface="Montserrat Bold"/>
              </a:rPr>
              <a:t>Richer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4078143"/>
            <a:ext cx="2462784" cy="6825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4A6079"/>
                </a:solidFill>
                <a:latin typeface="Space Grotesk"/>
                <a:cs typeface="Space Grotesk"/>
                <a:sym typeface="Space Grotesk"/>
              </a:rPr>
              <a:t>CPI weights, XBRL segments, Eurostat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4816" y="3720511"/>
            <a:ext cx="2462784" cy="32943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2000" b="0">
                <a:solidFill>
                  <a:srgbClr val="10304F"/>
                </a:solidFill>
                <a:latin typeface="Montserrat Bold"/>
                <a:cs typeface="Montserrat Bold"/>
                <a:sym typeface="Montserrat Bold"/>
              </a:rPr>
              <a:t>Dreaming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4816" y="4078143"/>
            <a:ext cx="2462784" cy="10238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4A6079"/>
                </a:solidFill>
                <a:latin typeface="Space Grotesk"/>
                <a:cs typeface="Space Grotesk"/>
                <a:sym typeface="Space Grotesk"/>
              </a:rPr>
              <a:t>Cross-question insights proposed for approval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32960" y="201168"/>
            <a:ext cx="7071360" cy="16459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972544" y="201168"/>
            <a:ext cx="16459" cy="3840480"/>
          </a:xfrm>
          <a:prstGeom prst="rect">
            <a:avLst/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58368" y="1455725"/>
            <a:ext cx="1005840" cy="25603"/>
          </a:xfrm>
          <a:prstGeom prst="rect">
            <a:avLst/>
          </a:prstGeom>
          <a:solidFill>
            <a:srgbClr val="6B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000000"/>
                </a:solidFill>
                <a:latin typeface="Montserrat Bold"/>
                <a:cs typeface="Montserrat Bold"/>
                <a:sym typeface="Montserrat Bold"/>
              </a:rPr>
              <a:t>15/15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66621"/>
            <a:ext cx="8047695" cy="11128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6800" b="0">
                <a:solidFill>
                  <a:srgbClr val="10304F"/>
                </a:solidFill>
                <a:latin typeface="Space Grotesk Bold"/>
                <a:cs typeface="Space Grotesk Bold"/>
                <a:sym typeface="Space Grotesk Bold"/>
              </a:rPr>
              <a:t>Read the trace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998860"/>
            <a:ext cx="5981395" cy="8030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2100" b="0">
                <a:solidFill>
                  <a:srgbClr val="4A6079"/>
                </a:solidFill>
                <a:latin typeface="Space Grotesk"/>
                <a:cs typeface="Space Grotesk"/>
                <a:sym typeface="Space Grotesk"/>
              </a:rPr>
              <a:t>because-agent.vercel.app  ·  github.com/OlsOls4/because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285232"/>
            <a:ext cx="5209032" cy="17569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6B2A55"/>
                </a:solidFill>
                <a:latin typeface="Montserrat Bold"/>
                <a:cs typeface="Montserrat Bold"/>
                <a:sym typeface="Montserrat Bold"/>
              </a:rPr>
              <a:t>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485073"/>
            <a:ext cx="5209032" cy="3412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4A6079"/>
                </a:solidFill>
                <a:latin typeface="Space Grotesk"/>
                <a:cs typeface="Space Grotesk"/>
                <a:sym typeface="Space Grotesk"/>
              </a:rPr>
              <a:t>because-agent.vercel.app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5285232"/>
            <a:ext cx="5209032" cy="17569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6B2A55"/>
                </a:solidFill>
                <a:latin typeface="Montserrat Bold"/>
                <a:cs typeface="Montserrat Bold"/>
                <a:sym typeface="Montserrat Bold"/>
              </a:rPr>
              <a:t>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5485073"/>
            <a:ext cx="5209032" cy="3412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71"/>
              </a:lnSpc>
            </a:pPr>
            <a:r>
              <a:rPr sz="1700" b="0">
                <a:solidFill>
                  <a:srgbClr val="4A6079"/>
                </a:solidFill>
                <a:latin typeface="Space Grotesk"/>
                <a:cs typeface="Space Grotesk"/>
                <a:sym typeface="Space Grotesk"/>
              </a:rPr>
              <a:t>github.com/OlsOls4/because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