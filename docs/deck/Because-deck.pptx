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16x9"/>
  <p:notesSz cx="6858000" cy="9144000"/>
  <p:embeddedFontLst>
    <p:embeddedFont>
      <p:font typeface="Montserrat Bold" charset="1"/>
      <p:regular r:id="rId18"/>
    </p:embeddedFont>
    <p:embeddedFont>
      <p:font typeface="Space Grotesk Bold" charset="1"/>
      <p:regular r:id="rId19"/>
    </p:embeddedFont>
    <p:embeddedFont>
      <p:font typeface="Space Grotesk" charset="1"/>
      <p:regular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GenAI Works Open Agent Hackathon 2026. Live demo https://because-agent.vercel.app. Code https://github.com/OlsOls4/because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Answering 'why did X change?' properly means pulling several sources, aligning periods, testing competing explanations and writing down what does not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output: examples/outputs/why-did-intel-s-gross-margin-fall-in-2024.md. Medium 0.65, capped because the largest driver ($6.97B restructuring and impairment, over 2.5x the prior-years average) is likely one-off. Screenshot of https://because-agent.vercel.app on 23 Oct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Scout -&gt; Analyst -&gt; DataHarness (Zetaris over JDBC; DuckDB fallback) -&gt; SEC EDGAR XBRL, ONS, FRED. Premise check, hypotheses with explicit rules, calibrated confidence. Optional NVIDIA NIM narrative is rejected unless every sentence cites a finding and every number appears in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https://github.com/OlsOls4/because/actions/runs/39949595787. Traces in examples/zetaris_runs/. USL: docs/zetaris_usl.sql and usl.log. US unemployment has no second source, so no federated JOIN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Query Q-49752693a1 on zetaris-jdbc in run 39949595787: ONS D7G7 JOIN FRED PNGASEUUSDM on month, 12-month change in gas price, lag via LAG window. Co-movement, not proof of cause. Companies get EDGAR revenue x FRED semiconductor PPI instead: Intel FY2024 price-adjusted revenue -3.6%.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scripts/eval.py, docs/EVAL.md, examples/eval/results.md. DuckDB backend, live public endpoints, no LLM. Brier 0.124. 19 questions is a sanity check, not a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misses are company revenue or price questions where SEC companyfacts has no segment, unit or price data. Committed as-is in examples/eval. Fix: XBRL segment frames and an FX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NIM: nvidia/nemotron-3.5-lightning-30b-a3b narrations in examples/outputs/*-narrated.*; a nemotron-3-ultra narration was rejected for quoting 7.03 and 6.1, numbers in no finding. Meterless Runtime provider untested against a live runtime; Markovian is a library with ported conformance tests, not wired into narration. Cursor: v0.1 written with AI agents in the build window and committed once; three Cursor Agent CLI sessions in docs/cursor-sessions.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 licence. Video: https://youtu.be/7SHfgPPmVMQ. Pre-existing components declared in README and docs/SPONSORS.md.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2351"/>
            <a:ext cx="5437632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4A6079"/>
                </a:solidFill>
                <a:latin typeface="Montserrat Bold"/>
                <a:cs typeface="Montserrat Bold"/>
                <a:sym typeface="Montserrat Bold"/>
              </a:rPr>
              <a:t>BECAUSE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5958" y="2542398"/>
            <a:ext cx="7177674" cy="176750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88496"/>
              </a:lnSpc>
            </a:pPr>
            <a:r>
              <a:rPr sz="10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Because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5958" y="4239148"/>
            <a:ext cx="7177674" cy="80304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101774"/>
              </a:lnSpc>
            </a:pPr>
            <a:r>
              <a:rPr sz="21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The analyst agent that shows its work. Ask why a number moved and audit every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541264"/>
            <a:ext cx="3242828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06440"/>
            <a:ext cx="3242828" cy="334731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Explain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84076" y="5541264"/>
            <a:ext cx="3242828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4076" y="5806440"/>
            <a:ext cx="3242828" cy="334731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OlsOls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58368" y="420065"/>
            <a:ext cx="1005840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02/10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30961"/>
            <a:ext cx="8917716" cy="4321363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6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Why questions get fluent answers that nobody can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759374"/>
            <a:ext cx="5981395" cy="155913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1774"/>
              </a:lnSpc>
            </a:pPr>
            <a:r>
              <a:rPr sz="21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LLMs explain fluently but unverifiably. Dashboards show what changed but not why. Doing it properly takes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deckimg-qn7d7uk9.jpg"/>
          <p:cNvPicPr>
            <a:picLocks noChangeAspect="1"/>
          </p:cNvPicPr>
          <p:nvPr/>
        </p:nvPicPr>
        <p:blipFill>
          <a:blip r:embed="rId2"/>
          <a:srcRect t="51" b="51"/>
          <a:stretch>
            <a:fillRect/>
          </a:stretch>
        </p:blipFill>
        <p:spPr>
          <a:xfrm>
            <a:off x="3657600" y="0"/>
            <a:ext cx="4876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03/10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22960"/>
            <a:ext cx="411480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6B2A55"/>
                </a:solidFill>
                <a:latin typeface="Montserrat Bold"/>
                <a:cs typeface="Montserrat Bold"/>
                <a:sym typeface="Montserrat Bold"/>
              </a:rPr>
              <a:t>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822960"/>
            <a:ext cx="2103120" cy="10238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Why did Intel's gross margin fall in 2024?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60320"/>
            <a:ext cx="411480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6B2A55"/>
                </a:solidFill>
                <a:latin typeface="Montserrat Bold"/>
                <a:cs typeface="Montserrat Bold"/>
                <a:sym typeface="Montserrat Bold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560320"/>
            <a:ext cx="2103120" cy="170647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40.0% to 32.7%: one-off charges and depreciation lead, lower revenue third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97680"/>
            <a:ext cx="411480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6B2A55"/>
                </a:solidFill>
                <a:latin typeface="Montserrat Bold"/>
                <a:cs typeface="Montserrat Bold"/>
                <a:sym typeface="Montserrat Bold"/>
              </a:rPr>
              <a:t>TAP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4297680"/>
            <a:ext cx="2103120" cy="16565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Taps F15 to see the SEC row and SQL, then rewrites her sentence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8448" y="2209922"/>
            <a:ext cx="2615184" cy="130926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944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A 5 pm deadline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8448" y="3559569"/>
            <a:ext cx="2615184" cy="16565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Her draft blames weak demand for Intel's margin fall. She asks Because instead.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deckimg-3efkvp7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05" y="823015"/>
            <a:ext cx="5220127" cy="5211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04/10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22960"/>
            <a:ext cx="4785116" cy="12709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944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One investigation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29303"/>
            <a:ext cx="4785116" cy="136517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Scout guards and signs a contract. Zetaris SQL pulls evidence. Each hypothesis gets a numeric test. H-MEM remembers with provenance.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145280" y="3803904"/>
            <a:ext cx="7168896" cy="9144"/>
          </a:xfrm>
          <a:prstGeom prst="rect">
            <a:avLst/>
          </a:prstGeom>
          <a:solidFill>
            <a:srgbClr val="4A60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145280" y="4602480"/>
            <a:ext cx="7168896" cy="9144"/>
          </a:xfrm>
          <a:prstGeom prst="rect">
            <a:avLst/>
          </a:prstGeom>
          <a:solidFill>
            <a:srgbClr val="4A60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145280" y="5401056"/>
            <a:ext cx="7168896" cy="9144"/>
          </a:xfrm>
          <a:prstGeom prst="rect">
            <a:avLst/>
          </a:prstGeom>
          <a:solidFill>
            <a:srgbClr val="4A60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deckimg-8mk7jm7k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0" y="0"/>
            <a:ext cx="1219200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FFFFFF"/>
                </a:solidFill>
                <a:latin typeface="Montserrat Bold"/>
                <a:cs typeface="Montserrat Bold"/>
                <a:sym typeface="Montserrat Bold"/>
              </a:rPr>
              <a:t>05/10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03904"/>
            <a:ext cx="3413760" cy="11213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394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A real Lightning 2.4.3.1 instance on a GitHub runner answers every example question over JDBC.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988739"/>
            <a:ext cx="3413760" cy="130926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3944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Live on Zetaris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5280" y="3931920"/>
            <a:ext cx="7168896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Run 39949595787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5280" y="4275761"/>
            <a:ext cx="7168896" cy="28878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394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5/5 questions, 0 query errors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5280" y="4730496"/>
            <a:ext cx="7168896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Federated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5280" y="5074337"/>
            <a:ext cx="7168896" cy="28878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394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EDGAR x FRED and ONS x FRED in one SQL JOIN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5280" y="5529072"/>
            <a:ext cx="7168896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USL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5280" y="5872913"/>
            <a:ext cx="7168896" cy="28878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394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Semantic layer model compiled, 9/9 statements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506175" y="3444161"/>
            <a:ext cx="3302184" cy="267974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506175" y="4026713"/>
            <a:ext cx="5184943" cy="267974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06175" y="4609265"/>
            <a:ext cx="6008650" cy="267974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06175" y="5191817"/>
            <a:ext cx="6611722" cy="267974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506175" y="5774369"/>
            <a:ext cx="6545531" cy="267974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95203" y="3286872"/>
            <a:ext cx="10973" cy="2912760"/>
          </a:xfrm>
          <a:prstGeom prst="rect">
            <a:avLst/>
          </a:prstGeom>
          <a:solidFill>
            <a:srgbClr val="4A60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06/10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8368"/>
            <a:ext cx="7177674" cy="152518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4755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Gas leads UK inflation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87691"/>
            <a:ext cx="6090148" cy="9501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1774"/>
              </a:lnSpc>
            </a:pPr>
            <a:r>
              <a:rPr sz="1722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One Lightning JOIN of ONS CPI and FRED European gas prices. Correlation by lead time, 2015-2022, 96 months.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33659"/>
            <a:ext cx="2610063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Same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353" y="3433659"/>
            <a:ext cx="1196279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 0.45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016211"/>
            <a:ext cx="2610063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3 months earlier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353" y="4016211"/>
            <a:ext cx="1196279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 0.71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98763"/>
            <a:ext cx="2610063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6 months earlier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353" y="4598763"/>
            <a:ext cx="1196279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 0.82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181315"/>
            <a:ext cx="2610063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9 months earlier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353" y="5181315"/>
            <a:ext cx="1196279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 0.90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763867"/>
            <a:ext cx="2610063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12 months earlier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7353" y="5763867"/>
            <a:ext cx="1196279" cy="32943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r 0.89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58368" y="2456473"/>
            <a:ext cx="782239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68624" y="2456473"/>
            <a:ext cx="782239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278880" y="2456473"/>
            <a:ext cx="782239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089136" y="2456473"/>
            <a:ext cx="782239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07/10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48495"/>
            <a:ext cx="7830190" cy="9601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5929"/>
            <a:ext cx="2444496" cy="22877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7200" b="0">
                <a:solidFill>
                  <a:srgbClr val="6B2A55"/>
                </a:solidFill>
                <a:latin typeface="Space Grotesk Bold"/>
                <a:cs typeface="Space Grotesk Bold"/>
                <a:sym typeface="Space Grotesk Bold"/>
              </a:rPr>
              <a:t>19/19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37618"/>
            <a:ext cx="2444496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Direction right, traps caught 2/2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8624" y="2675929"/>
            <a:ext cx="2444496" cy="22877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7200" b="0">
                <a:solidFill>
                  <a:srgbClr val="6B2A55"/>
                </a:solidFill>
                <a:latin typeface="Space Grotesk Bold"/>
                <a:cs typeface="Space Grotesk Bold"/>
                <a:sym typeface="Space Grotesk Bold"/>
              </a:rPr>
              <a:t>16/19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8624" y="4737618"/>
            <a:ext cx="2444496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Reference driver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2675929"/>
            <a:ext cx="2444496" cy="22877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7200" b="0">
                <a:solidFill>
                  <a:srgbClr val="6B2A55"/>
                </a:solidFill>
                <a:latin typeface="Space Grotesk Bold"/>
                <a:cs typeface="Space Grotesk Bold"/>
                <a:sym typeface="Space Grotesk Bold"/>
              </a:rPr>
              <a:t>0.71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880" y="4737618"/>
            <a:ext cx="2444496" cy="99395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Confidence when right (0.52 when wrong)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675929"/>
            <a:ext cx="2444496" cy="22877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7200" b="0">
                <a:solidFill>
                  <a:srgbClr val="6B2A55"/>
                </a:solidFill>
                <a:latin typeface="Space Grotesk Bold"/>
                <a:cs typeface="Space Grotesk Bold"/>
                <a:sym typeface="Space Grotesk Bold"/>
              </a:rPr>
              <a:t>109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737618"/>
            <a:ext cx="2444496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Offline tests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15030"/>
            <a:ext cx="7395180" cy="9601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Where it fails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04534"/>
            <a:ext cx="3396488" cy="32430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Tesla margin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480454"/>
            <a:ext cx="3396488" cy="10238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Real cause was price cuts. No price data in filings. Answered Low 0.34.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3456" y="4104534"/>
            <a:ext cx="3396488" cy="32430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Apple revenue FY2023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3456" y="4480454"/>
            <a:ext cx="3396488" cy="132526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Real cause was Mac, iPad and a strong dollar. No segment or FX data. Medium 0.66.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8544" y="4104534"/>
            <a:ext cx="3396488" cy="32430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91750"/>
              </a:lnSpc>
            </a:pPr>
            <a:r>
              <a:rPr sz="2000" b="0">
                <a:solidFill>
                  <a:srgbClr val="10304F"/>
                </a:solidFill>
                <a:latin typeface="Montserrat Bold"/>
                <a:cs typeface="Montserrat Bold"/>
                <a:sym typeface="Montserrat Bold"/>
              </a:rPr>
              <a:t>Intel revenue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8544" y="4480454"/>
            <a:ext cx="3396488" cy="1325267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Real cause was weak PC and server demand. Only pricing pressure was supported.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58368" y="2305804"/>
            <a:ext cx="10875264" cy="13716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09/10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55586"/>
            <a:ext cx="7830190" cy="9601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5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Sponsor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72124"/>
            <a:ext cx="3478784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4A6079"/>
                </a:solidFill>
                <a:latin typeface="Montserrat Bold"/>
                <a:cs typeface="Montserrat Bold"/>
                <a:sym typeface="Montserrat Bold"/>
              </a:rPr>
              <a:t>SPONSOR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3456" y="2072124"/>
            <a:ext cx="3478784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4A6079"/>
                </a:solidFill>
                <a:latin typeface="Montserrat Bold"/>
                <a:cs typeface="Montserrat Bold"/>
                <a:sym typeface="Montserrat Bold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8544" y="2072124"/>
            <a:ext cx="3478784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4A6079"/>
                </a:solidFill>
                <a:latin typeface="Montserrat Bold"/>
                <a:cs typeface="Montserrat Bold"/>
                <a:sym typeface="Montserrat Bold"/>
              </a:rPr>
              <a:t>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52108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Zetaris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3456" y="2452108"/>
            <a:ext cx="3478784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Federated SQL harness, USL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8544" y="2452108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Green CI run, 5/5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02622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Meterless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3456" y="3402622"/>
            <a:ext cx="3478784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Scout contracts, H-MEM provenance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8544" y="3402622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H-MEM 13/13, Scout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53137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NVIDIA NIM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3456" y="4353137"/>
            <a:ext cx="3478784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Validated narrative, Nemotron 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8544" y="4353137"/>
            <a:ext cx="3478784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Real runs; guard rejected invented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303651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Cursor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3456" y="5303651"/>
            <a:ext cx="3478784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Rules and agent sessions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8544" y="5303651"/>
            <a:ext cx="3478784" cy="68258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10304F"/>
                </a:solidFill>
                <a:latin typeface="Space Grotesk"/>
                <a:cs typeface="Space Grotesk"/>
                <a:sym typeface="Space Grotesk"/>
              </a:rPr>
              <a:t>3 logged sessions; latest fixes without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0" y="201168"/>
            <a:ext cx="7071360" cy="16459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11972544" y="201168"/>
            <a:ext cx="16459" cy="3840480"/>
          </a:xfrm>
          <a:prstGeom prst="rect">
            <a:avLst/>
          </a:prstGeom>
          <a:solidFill>
            <a:srgbClr val="10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58368" y="1455725"/>
            <a:ext cx="1005840" cy="25603"/>
          </a:xfrm>
          <a:prstGeom prst="rect">
            <a:avLst/>
          </a:prstGeom>
          <a:solidFill>
            <a:srgbClr val="6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90632" y="184343"/>
            <a:ext cx="1143000" cy="16215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r">
              <a:lnSpc>
                <a:spcPct val="91750"/>
              </a:lnSpc>
            </a:pPr>
            <a:r>
              <a:rPr sz="1000" b="0" spc="80">
                <a:solidFill>
                  <a:srgbClr val="000000"/>
                </a:solidFill>
                <a:latin typeface="Montserrat Bold"/>
                <a:cs typeface="Montserrat Bold"/>
                <a:sym typeface="Montserrat Bold"/>
              </a:rPr>
              <a:t>10/10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66621"/>
            <a:ext cx="8047695" cy="111287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88496"/>
              </a:lnSpc>
            </a:pPr>
            <a:r>
              <a:rPr sz="6800" b="0">
                <a:solidFill>
                  <a:srgbClr val="10304F"/>
                </a:solidFill>
                <a:latin typeface="Space Grotesk Bold"/>
                <a:cs typeface="Space Grotesk Bold"/>
                <a:sym typeface="Space Grotesk Bold"/>
              </a:rPr>
              <a:t>Read the 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98860"/>
            <a:ext cx="5981395" cy="779569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1774"/>
              </a:lnSpc>
            </a:pPr>
            <a:r>
              <a:rPr sz="21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Every claim links to a query and a source row.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209032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6B2A55"/>
                </a:solidFill>
                <a:latin typeface="Montserrat Bold"/>
                <a:cs typeface="Montserrat Bold"/>
                <a:sym typeface="Montserrat Bold"/>
              </a:rPr>
              <a:t>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485073"/>
            <a:ext cx="5209032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because-agent.vercel.app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5285232"/>
            <a:ext cx="5209032" cy="17569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91750"/>
              </a:lnSpc>
            </a:pPr>
            <a:r>
              <a:rPr sz="1000" b="0" spc="80">
                <a:solidFill>
                  <a:srgbClr val="6B2A55"/>
                </a:solidFill>
                <a:latin typeface="Montserrat Bold"/>
                <a:cs typeface="Montserrat Bold"/>
                <a:sym typeface="Montserrat Bold"/>
              </a:rPr>
              <a:t>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5485073"/>
            <a:ext cx="5209032" cy="341295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6471"/>
              </a:lnSpc>
            </a:pPr>
            <a:r>
              <a:rPr sz="1700" b="0">
                <a:solidFill>
                  <a:srgbClr val="4A6079"/>
                </a:solidFill>
                <a:latin typeface="Space Grotesk"/>
                <a:cs typeface="Space Grotesk"/>
                <a:sym typeface="Space Grotesk"/>
              </a:rPr>
              <a:t>github.com/OlsOls4/because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